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sldIdLst>
    <p:sldId id="256" r:id="rId4"/>
    <p:sldId id="571" r:id="rId6"/>
    <p:sldId id="572" r:id="rId7"/>
    <p:sldId id="573" r:id="rId8"/>
    <p:sldId id="574" r:id="rId9"/>
    <p:sldId id="575" r:id="rId10"/>
    <p:sldId id="576" r:id="rId11"/>
    <p:sldId id="577" r:id="rId12"/>
    <p:sldId id="579" r:id="rId13"/>
    <p:sldId id="578" r:id="rId14"/>
    <p:sldId id="536" r:id="rId15"/>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26"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7" d="100"/>
          <a:sy n="107" d="100"/>
        </p:scale>
        <p:origin x="102" y="132"/>
      </p:cViewPr>
      <p:guideLst>
        <p:guide orient="horz" pos="672"/>
        <p:guide pos="326"/>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4.xml"/><Relationship Id="rId2" Type="http://schemas.openxmlformats.org/officeDocument/2006/relationships/theme" Target="theme/theme1.xml"/><Relationship Id="rId19" Type="http://schemas.microsoft.com/office/2018/10/relationships/authors" Targe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tags" Target="../tags/tag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https://github.com/anil238w1a12i9/IPL-Cricket-Analytics-Dashboard/blob/main/Anil%20Kumar%20Thotakura-Final.pbip"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639934" y="963324"/>
            <a:ext cx="4746772" cy="2506766"/>
          </a:xfrm>
          <a:prstGeom prst="rect">
            <a:avLst/>
          </a:prstGeom>
          <a:solidFill>
            <a:schemeClr val="accent3">
              <a:lumMod val="60000"/>
              <a:lumOff val="40000"/>
            </a:schemeClr>
          </a:solidFill>
        </p:spPr>
        <p:txBody>
          <a:bodyPr vert="horz" lIns="91440" tIns="45720" rIns="91440" bIns="45720" rtlCol="0" anchor="b">
            <a:normAutofit fontScale="7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Times New Roman" panose="02020603050405020304" charset="0"/>
                <a:ea typeface="+mj-ea"/>
                <a:cs typeface="Times New Roman" panose="02020603050405020304" charset="0"/>
              </a:rPr>
              <a:t>CAPSTONE </a:t>
            </a:r>
            <a:r>
              <a:rPr lang="en-US" sz="2800" b="1">
                <a:latin typeface="Times New Roman" panose="02020603050405020304" charset="0"/>
                <a:cs typeface="Times New Roman" panose="02020603050405020304" charset="0"/>
              </a:rPr>
              <a:t>PROJECT</a:t>
            </a:r>
            <a:endParaRPr lang="en-US" sz="5100">
              <a:latin typeface="Times New Roman" panose="02020603050405020304" charset="0"/>
              <a:cs typeface="Times New Roman" panose="02020603050405020304" charset="0"/>
            </a:endParaRPr>
          </a:p>
          <a:p>
            <a:pPr algn="ctr">
              <a:lnSpc>
                <a:spcPct val="100000"/>
              </a:lnSpc>
            </a:pPr>
            <a:br>
              <a:rPr lang="en-US" sz="5100" b="1" dirty="0"/>
            </a:br>
            <a:r>
              <a:rPr lang="en-US" altLang="en-GB" sz="5100" b="1">
                <a:latin typeface="Century" panose="02040604050505020304" charset="0"/>
                <a:cs typeface="Century" panose="02040604050505020304" charset="0"/>
              </a:rPr>
              <a:t>IPL Cricket Analytics Dashboard</a:t>
            </a:r>
            <a:endParaRPr lang="en-US" altLang="en-GB" sz="5100" b="1">
              <a:latin typeface="Aptos"/>
            </a:endParaRPr>
          </a:p>
          <a:p>
            <a:pPr algn="ctr"/>
            <a:endParaRPr lang="en-US" sz="5100" b="1" kern="1200"/>
          </a:p>
        </p:txBody>
      </p:sp>
      <p:sp>
        <p:nvSpPr>
          <p:cNvPr id="5" name="Subtitle 2"/>
          <p:cNvSpPr>
            <a:spLocks noGrp="1"/>
          </p:cNvSpPr>
          <p:nvPr/>
        </p:nvSpPr>
        <p:spPr>
          <a:xfrm>
            <a:off x="640080" y="3811270"/>
            <a:ext cx="4746625" cy="2087880"/>
          </a:xfrm>
          <a:prstGeom prst="rect">
            <a:avLst/>
          </a:prstGeom>
          <a:solidFill>
            <a:schemeClr val="tx2">
              <a:lumMod val="75000"/>
              <a:lumOff val="25000"/>
            </a:schemeClr>
          </a:solidFill>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a:t>Student Name:</a:t>
            </a:r>
            <a:r>
              <a:rPr lang="en-IN" altLang="en-US" sz="1400" cap="all">
                <a:latin typeface="Times New Roman" panose="02020603050405020304" charset="0"/>
                <a:cs typeface="Times New Roman" panose="02020603050405020304" charset="0"/>
              </a:rPr>
              <a:t> </a:t>
            </a:r>
            <a:r>
              <a:rPr lang="en-IN" altLang="en-US" sz="1400" cap="all">
                <a:effectLst>
                  <a:outerShdw blurRad="38100" dist="38100" dir="2700000" algn="tl">
                    <a:srgbClr val="000000">
                      <a:alpha val="43137"/>
                    </a:srgbClr>
                  </a:outerShdw>
                </a:effectLst>
                <a:latin typeface="Times New Roman" panose="02020603050405020304" charset="0"/>
                <a:cs typeface="Times New Roman" panose="02020603050405020304" charset="0"/>
              </a:rPr>
              <a:t>Anil kumar thotakura</a:t>
            </a:r>
            <a:endParaRPr lang="en-US" sz="1200" b="1" cap="all">
              <a:latin typeface="Times New Roman" panose="02020603050405020304" charset="0"/>
              <a:cs typeface="Times New Roman" panose="02020603050405020304" charset="0"/>
            </a:endParaRPr>
          </a:p>
          <a:p>
            <a:pPr algn="l">
              <a:spcAft>
                <a:spcPts val="600"/>
              </a:spcAft>
            </a:pPr>
            <a:r>
              <a:rPr lang="en-US" sz="1600" b="1" cap="all"/>
              <a:t>College Name:</a:t>
            </a:r>
            <a:r>
              <a:rPr lang="en-IN" altLang="en-US" sz="1400" cap="all">
                <a:effectLst>
                  <a:outerShdw blurRad="38100" dist="38100" dir="2700000" algn="tl">
                    <a:srgbClr val="000000">
                      <a:alpha val="43137"/>
                    </a:srgbClr>
                  </a:outerShdw>
                </a:effectLst>
                <a:latin typeface="Times New Roman" panose="02020603050405020304" charset="0"/>
                <a:cs typeface="Times New Roman" panose="02020603050405020304" charset="0"/>
              </a:rPr>
              <a:t>v.r.s.e.c, Vijayawada</a:t>
            </a:r>
            <a:endParaRPr lang="en-US" sz="1600" b="1" cap="all"/>
          </a:p>
          <a:p>
            <a:pPr algn="l">
              <a:spcAft>
                <a:spcPts val="600"/>
              </a:spcAft>
            </a:pPr>
            <a:r>
              <a:rPr lang="en-US" sz="1600" b="1" cap="all"/>
              <a:t>Department</a:t>
            </a:r>
            <a:r>
              <a:rPr lang="en-US" sz="1400" cap="all">
                <a:latin typeface="Times New Roman" panose="02020603050405020304" charset="0"/>
                <a:cs typeface="Times New Roman" panose="02020603050405020304" charset="0"/>
              </a:rPr>
              <a:t>:</a:t>
            </a:r>
            <a:r>
              <a:rPr lang="en-IN" altLang="en-US" sz="1400" cap="all">
                <a:effectLst>
                  <a:outerShdw blurRad="38100" dist="38100" dir="2700000" algn="tl">
                    <a:srgbClr val="000000">
                      <a:alpha val="43137"/>
                    </a:srgbClr>
                  </a:outerShdw>
                </a:effectLst>
                <a:latin typeface="Times New Roman" panose="02020603050405020304" charset="0"/>
                <a:cs typeface="Times New Roman" panose="02020603050405020304" charset="0"/>
              </a:rPr>
              <a:t>It</a:t>
            </a:r>
            <a:endParaRPr lang="en-US" sz="1400" cap="all">
              <a:latin typeface="Times New Roman" panose="02020603050405020304" charset="0"/>
              <a:cs typeface="Times New Roman" panose="02020603050405020304" charset="0"/>
            </a:endParaRPr>
          </a:p>
          <a:p>
            <a:pPr algn="l">
              <a:spcAft>
                <a:spcPts val="600"/>
              </a:spcAft>
            </a:pPr>
            <a:r>
              <a:rPr lang="en-US" sz="1600" b="1" cap="all"/>
              <a:t>Email ID:</a:t>
            </a:r>
            <a:r>
              <a:rPr lang="en-US" altLang="en-GB" sz="1600">
                <a:effectLst>
                  <a:outerShdw blurRad="38100" dist="38100" dir="2700000" algn="tl">
                    <a:srgbClr val="000000">
                      <a:alpha val="43137"/>
                    </a:srgbClr>
                  </a:outerShdw>
                </a:effectLst>
                <a:latin typeface="Century" panose="02040604050505020304" charset="0"/>
                <a:ea typeface="+mj-ea"/>
                <a:cs typeface="Century" panose="02040604050505020304" charset="0"/>
              </a:rPr>
              <a:t>anilkumar31122005@gmail.com</a:t>
            </a:r>
            <a:endParaRPr lang="en-US" altLang="en-GB" sz="1600" cap="all">
              <a:effectLst>
                <a:outerShdw blurRad="38100" dist="38100" dir="2700000" algn="tl">
                  <a:srgbClr val="000000">
                    <a:alpha val="43137"/>
                  </a:srgbClr>
                </a:outerShdw>
              </a:effectLst>
              <a:latin typeface="Century" panose="02040604050505020304" charset="0"/>
              <a:ea typeface="+mj-ea"/>
              <a:cs typeface="Century" panose="02040604050505020304" charset="0"/>
            </a:endParaRP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2"/>
          <a:stretch>
            <a:fillRect/>
          </a:stretch>
        </p:blipFill>
        <p:spPr>
          <a:xfrm>
            <a:off x="6409990" y="963029"/>
            <a:ext cx="4590784" cy="4936489"/>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4000" b="1" cap="all" dirty="0">
                <a:latin typeface="Century" panose="02040604050505020304" charset="0"/>
                <a:cs typeface="Century" panose="02040604050505020304" charset="0"/>
              </a:rPr>
              <a:t>OUTLINE:</a:t>
            </a:r>
            <a:endParaRPr lang="en-US" sz="4000" b="1" cap="all" dirty="0">
              <a:latin typeface="Century" panose="02040604050505020304" charset="0"/>
              <a:cs typeface="Century" panose="02040604050505020304" charset="0"/>
            </a:endParaRPr>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i="1">
                <a:latin typeface="Times New Roman" panose="02020603050405020304" charset="0"/>
                <a:cs typeface="Times New Roman" panose="02020603050405020304" charset="0"/>
              </a:rPr>
              <a:t>Problem Statement </a:t>
            </a:r>
            <a:r>
              <a:rPr lang="en-US" sz="2200" i="1">
                <a:latin typeface="Times New Roman" panose="02020603050405020304" charset="0"/>
                <a:cs typeface="Times New Roman" panose="02020603050405020304" charset="0"/>
              </a:rPr>
              <a:t>(Should not include solution)</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Proposed System/Solution</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System Development Approach </a:t>
            </a:r>
            <a:r>
              <a:rPr lang="en-US" sz="2200" i="1">
                <a:latin typeface="Times New Roman" panose="02020603050405020304" charset="0"/>
                <a:cs typeface="Times New Roman" panose="02020603050405020304" charset="0"/>
              </a:rPr>
              <a:t>(Technology Used) </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Algorithm &amp; Deployment  </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Result (Output Image)</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Conclusion</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Future Scope</a:t>
            </a:r>
            <a:endParaRPr lang="en-US" sz="2200" i="1">
              <a:latin typeface="Times New Roman" panose="02020603050405020304" charset="0"/>
              <a:cs typeface="Times New Roman" panose="02020603050405020304" charset="0"/>
            </a:endParaRPr>
          </a:p>
          <a:p>
            <a:pPr marL="305435" indent="-305435">
              <a:spcBef>
                <a:spcPct val="20000"/>
              </a:spcBef>
              <a:spcAft>
                <a:spcPts val="600"/>
              </a:spcAft>
            </a:pPr>
            <a:r>
              <a:rPr lang="en-US" sz="2200" b="1" i="1">
                <a:latin typeface="Times New Roman" panose="02020603050405020304" charset="0"/>
                <a:cs typeface="Times New Roman" panose="02020603050405020304" charset="0"/>
              </a:rPr>
              <a:t>References</a:t>
            </a:r>
            <a:endParaRPr lang="en-US" sz="2200" i="1">
              <a:latin typeface="Times New Roman" panose="02020603050405020304" charset="0"/>
              <a:cs typeface="Times New Roman" panose="02020603050405020304" charset="0"/>
            </a:endParaRPr>
          </a:p>
          <a:p>
            <a:endParaRPr lang="en-GB" sz="2200" i="1">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Problem Statement:</a:t>
            </a:r>
            <a:endParaRPr lang="en-US" sz="4000" b="1" cap="all">
              <a:latin typeface="Century" panose="02040604050505020304" charset="0"/>
              <a:cs typeface="Century" panose="02040604050505020304" charset="0"/>
            </a:endParaRPr>
          </a:p>
        </p:txBody>
      </p:sp>
      <p:sp>
        <p:nvSpPr>
          <p:cNvPr id="3" name="Content Placeholder 2"/>
          <p:cNvSpPr>
            <a:spLocks noGrp="1"/>
          </p:cNvSpPr>
          <p:nvPr>
            <p:ph idx="1"/>
          </p:nvPr>
        </p:nvSpPr>
        <p:spPr>
          <a:xfrm>
            <a:off x="586740" y="1715135"/>
            <a:ext cx="11018520" cy="4251960"/>
          </a:xfrm>
          <a:ln w="12700" cap="flat" cmpd="sng" algn="ctr">
            <a:solidFill>
              <a:schemeClr val="accent3">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txBody>
          <a:bodyPr vert="horz" lIns="91440" tIns="45720" rIns="91440" bIns="45720" rtlCol="0">
            <a:normAutofit/>
          </a:bodyPr>
          <a:lstStyle/>
          <a:p>
            <a:pPr marL="0" indent="0" algn="just">
              <a:buNone/>
            </a:pPr>
            <a:r>
              <a:rPr lang="en-US" altLang="en-GB" sz="2400">
                <a:latin typeface="Times New Roman" panose="02020603050405020304" charset="0"/>
                <a:cs typeface="Times New Roman" panose="02020603050405020304" charset="0"/>
              </a:rPr>
              <a:t>Cricket leagues such as the Indian Premier League generate a large amount of match data including player statistics, team performance, and match outcomes. However, this data is often scattered across multiple sources and is difficult to analyze efficiently. Teams, analysts, and fans may find it challenging to quickly identify key insights such as top-performing players, team contributions, and season trends. Therefore, there is a need to organize and visualize cricket match data in a structured way to better understand player performance and match statistics.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br>
              <a:rPr lang="en-US" sz="4000" b="1" cap="all">
                <a:latin typeface="Arial" panose="020B0604020202020204"/>
                <a:cs typeface="Arial" panose="020B0604020202020204"/>
              </a:rPr>
            </a:br>
            <a:endParaRPr lang="en-US" sz="4000" dirty="0"/>
          </a:p>
        </p:txBody>
      </p:sp>
      <p:sp>
        <p:nvSpPr>
          <p:cNvPr id="3" name="Content Placeholder 2"/>
          <p:cNvSpPr>
            <a:spLocks noGrp="1"/>
          </p:cNvSpPr>
          <p:nvPr>
            <p:ph idx="1"/>
          </p:nvPr>
        </p:nvSpPr>
        <p:spPr>
          <a:xfrm>
            <a:off x="361950" y="1316355"/>
            <a:ext cx="11468735" cy="5541010"/>
          </a:xfrm>
        </p:spPr>
        <p:style>
          <a:lnRef idx="3">
            <a:schemeClr val="accent1"/>
          </a:lnRef>
          <a:fillRef idx="0">
            <a:srgbClr val="FFFFFF"/>
          </a:fillRef>
          <a:effectRef idx="0">
            <a:srgbClr val="FFFFFF"/>
          </a:effectRef>
          <a:fontRef idx="minor">
            <a:schemeClr val="tx1"/>
          </a:fontRef>
        </p:style>
        <p:txBody>
          <a:bodyPr vert="horz" lIns="91440" tIns="45720" rIns="91440" bIns="45720" rtlCol="0" anchor="t">
            <a:noAutofit/>
          </a:bodyPr>
          <a:lstStyle/>
          <a:p>
            <a:pPr marL="0" indent="0" algn="just">
              <a:spcBef>
                <a:spcPct val="20000"/>
              </a:spcBef>
              <a:spcAft>
                <a:spcPts val="600"/>
              </a:spcAft>
              <a:buFont typeface="Arial" panose="020B0604020202020204"/>
              <a:buNone/>
            </a:pPr>
            <a:r>
              <a:rPr lang="en-US" altLang="en-GB" sz="1600" dirty="0">
                <a:latin typeface="Times New Roman" panose="02020603050405020304" charset="0"/>
                <a:cs typeface="Times New Roman" panose="02020603050405020304" charset="0"/>
              </a:rPr>
              <a:t>The proposed system aims to analyze cricket match data and provide meaningful insights into player performance, team statistics, and season trends using data analytics and visualization techniques. The system will organize large cricket datasets and transform them into interactive visual reports. The solution will consist of the following components:</a:t>
            </a:r>
            <a:endParaRPr lang="en-US" altLang="en-GB" sz="1600" dirty="0">
              <a:latin typeface="Times New Roman" panose="02020603050405020304" charset="0"/>
              <a:cs typeface="Times New Roman" panose="02020603050405020304" charset="0"/>
            </a:endParaRPr>
          </a:p>
          <a:p>
            <a:pPr marL="0" indent="0" algn="just">
              <a:spcBef>
                <a:spcPct val="20000"/>
              </a:spcBef>
              <a:spcAft>
                <a:spcPts val="600"/>
              </a:spcAft>
              <a:buFont typeface="Arial" panose="020B0604020202020204"/>
              <a:buNone/>
            </a:pPr>
            <a:r>
              <a:rPr lang="en-IN" altLang="en-US" sz="1200" dirty="0">
                <a:latin typeface="Times New Roman" panose="02020603050405020304" charset="0"/>
                <a:cs typeface="Times New Roman" panose="02020603050405020304" charset="0"/>
              </a:rPr>
              <a:t>        </a:t>
            </a:r>
            <a:r>
              <a:rPr lang="en-US" altLang="en-GB" sz="1800" b="1" dirty="0">
                <a:solidFill>
                  <a:schemeClr val="tx2">
                    <a:lumMod val="75000"/>
                    <a:lumOff val="25000"/>
                  </a:schemeClr>
                </a:solidFill>
                <a:latin typeface="Times New Roman" panose="02020603050405020304" charset="0"/>
                <a:cs typeface="Times New Roman" panose="02020603050405020304" charset="0"/>
              </a:rPr>
              <a:t>Data Collection:</a:t>
            </a:r>
            <a:endParaRPr lang="en-US" altLang="en-GB" sz="1200" dirty="0">
              <a:latin typeface="Times New Roman" panose="02020603050405020304" charset="0"/>
              <a:cs typeface="Times New Roman" panose="02020603050405020304" charset="0"/>
            </a:endParaRPr>
          </a:p>
          <a:p>
            <a:pPr marL="305435" indent="-305435" algn="just">
              <a:spcBef>
                <a:spcPct val="20000"/>
              </a:spcBef>
              <a:spcAft>
                <a:spcPts val="600"/>
              </a:spcAft>
              <a:buFont typeface="Arial" panose="020B0604020202020204"/>
              <a:buChar char="•"/>
            </a:pPr>
            <a:r>
              <a:rPr lang="en-US" altLang="en-GB" sz="1600" dirty="0">
                <a:latin typeface="Times New Roman" panose="02020603050405020304" charset="0"/>
                <a:cs typeface="Times New Roman" panose="02020603050405020304" charset="0"/>
              </a:rPr>
              <a:t>Historical cricket datasets containing match details, player statistics, runs scored, wickets taken, and team information will be collected from reliable sources. The data may include ball-by-ball records, match outcomes, and seasonal information to support comprehensive analysis.</a:t>
            </a:r>
            <a:endParaRPr lang="en-US" altLang="en-GB" sz="1200" dirty="0">
              <a:latin typeface="Times New Roman" panose="02020603050405020304" charset="0"/>
              <a:cs typeface="Times New Roman" panose="02020603050405020304" charset="0"/>
            </a:endParaRPr>
          </a:p>
          <a:p>
            <a:pPr marL="0" indent="0" algn="just">
              <a:spcBef>
                <a:spcPct val="20000"/>
              </a:spcBef>
              <a:spcAft>
                <a:spcPts val="600"/>
              </a:spcAft>
              <a:buFont typeface="Arial" panose="020B0604020202020204"/>
              <a:buNone/>
            </a:pPr>
            <a:r>
              <a:rPr lang="en-IN" altLang="en-US" sz="1200" dirty="0">
                <a:latin typeface="Times New Roman" panose="02020603050405020304" charset="0"/>
                <a:cs typeface="Times New Roman" panose="02020603050405020304" charset="0"/>
              </a:rPr>
              <a:t>       </a:t>
            </a:r>
            <a:r>
              <a:rPr lang="en-IN" altLang="en-US" sz="1800" b="1" dirty="0">
                <a:solidFill>
                  <a:schemeClr val="tx2">
                    <a:lumMod val="75000"/>
                    <a:lumOff val="25000"/>
                  </a:schemeClr>
                </a:solidFill>
                <a:latin typeface="Times New Roman" panose="02020603050405020304" charset="0"/>
                <a:cs typeface="Times New Roman" panose="02020603050405020304" charset="0"/>
              </a:rPr>
              <a:t> </a:t>
            </a:r>
            <a:r>
              <a:rPr lang="en-US" altLang="en-GB" sz="1800" b="1" dirty="0">
                <a:solidFill>
                  <a:schemeClr val="tx2">
                    <a:lumMod val="75000"/>
                    <a:lumOff val="25000"/>
                  </a:schemeClr>
                </a:solidFill>
                <a:latin typeface="Times New Roman" panose="02020603050405020304" charset="0"/>
                <a:cs typeface="Times New Roman" panose="02020603050405020304" charset="0"/>
              </a:rPr>
              <a:t>Data Preprocessing:</a:t>
            </a:r>
            <a:endParaRPr lang="en-US" altLang="en-GB" sz="1800" b="1" dirty="0">
              <a:solidFill>
                <a:schemeClr val="tx2">
                  <a:lumMod val="75000"/>
                  <a:lumOff val="25000"/>
                </a:schemeClr>
              </a:solidFill>
              <a:latin typeface="Times New Roman" panose="02020603050405020304" charset="0"/>
              <a:cs typeface="Times New Roman" panose="02020603050405020304" charset="0"/>
            </a:endParaRPr>
          </a:p>
          <a:p>
            <a:pPr marL="305435" indent="-305435" algn="just">
              <a:spcBef>
                <a:spcPct val="20000"/>
              </a:spcBef>
              <a:spcAft>
                <a:spcPts val="600"/>
              </a:spcAft>
              <a:buFont typeface="Arial" panose="020B0604020202020204"/>
              <a:buChar char="•"/>
            </a:pPr>
            <a:r>
              <a:rPr lang="en-US" altLang="en-GB" sz="1600" dirty="0">
                <a:latin typeface="Times New Roman" panose="02020603050405020304" charset="0"/>
                <a:cs typeface="Times New Roman" panose="02020603050405020304" charset="0"/>
              </a:rPr>
              <a:t>The collected data will be cleaned and processed to remove missing values, duplicates, and inconsistencies. Data transformation and structuring will be performed to prepare the dataset for analysis and visualization.</a:t>
            </a:r>
            <a:endParaRPr lang="en-US" altLang="en-GB" sz="1600" dirty="0">
              <a:latin typeface="Times New Roman" panose="02020603050405020304" charset="0"/>
              <a:cs typeface="Times New Roman" panose="02020603050405020304" charset="0"/>
            </a:endParaRPr>
          </a:p>
          <a:p>
            <a:pPr marL="0" indent="0" algn="just">
              <a:spcBef>
                <a:spcPct val="20000"/>
              </a:spcBef>
              <a:spcAft>
                <a:spcPts val="600"/>
              </a:spcAft>
              <a:buFont typeface="Arial" panose="020B0604020202020204"/>
              <a:buNone/>
            </a:pPr>
            <a:r>
              <a:rPr lang="en-IN" altLang="en-US" sz="1200" dirty="0">
                <a:latin typeface="Times New Roman" panose="02020603050405020304" charset="0"/>
                <a:cs typeface="Times New Roman" panose="02020603050405020304" charset="0"/>
              </a:rPr>
              <a:t>    </a:t>
            </a:r>
            <a:endParaRPr lang="en-US" altLang="en-GB" sz="1200" dirty="0">
              <a:latin typeface="Times New Roman" panose="02020603050405020304" charset="0"/>
              <a:cs typeface="Times New Roman" panose="02020603050405020304" charset="0"/>
            </a:endParaRPr>
          </a:p>
          <a:p>
            <a:pPr marL="0" indent="0" algn="just">
              <a:spcBef>
                <a:spcPct val="20000"/>
              </a:spcBef>
              <a:spcAft>
                <a:spcPts val="600"/>
              </a:spcAft>
              <a:buFont typeface="Arial" panose="020B0604020202020204"/>
              <a:buNone/>
            </a:pPr>
            <a:r>
              <a:rPr lang="en-IN" altLang="en-US" sz="1800" dirty="0">
                <a:latin typeface="Times New Roman" panose="02020603050405020304" charset="0"/>
                <a:cs typeface="Times New Roman" panose="02020603050405020304" charset="0"/>
              </a:rPr>
              <a:t>      </a:t>
            </a:r>
            <a:r>
              <a:rPr lang="en-US" altLang="en-GB" sz="1800" b="1" dirty="0">
                <a:solidFill>
                  <a:schemeClr val="tx2">
                    <a:lumMod val="75000"/>
                    <a:lumOff val="25000"/>
                  </a:schemeClr>
                </a:solidFill>
                <a:latin typeface="Times New Roman" panose="02020603050405020304" charset="0"/>
                <a:cs typeface="Times New Roman" panose="02020603050405020304" charset="0"/>
              </a:rPr>
              <a:t>Deployment:</a:t>
            </a:r>
            <a:endParaRPr lang="en-US" altLang="en-GB" sz="1800" b="1" dirty="0">
              <a:solidFill>
                <a:schemeClr val="tx2">
                  <a:lumMod val="75000"/>
                  <a:lumOff val="25000"/>
                </a:schemeClr>
              </a:solidFill>
              <a:latin typeface="Times New Roman" panose="02020603050405020304" charset="0"/>
              <a:cs typeface="Times New Roman" panose="02020603050405020304" charset="0"/>
            </a:endParaRPr>
          </a:p>
          <a:p>
            <a:pPr marL="305435" indent="-305435" algn="just">
              <a:spcBef>
                <a:spcPct val="20000"/>
              </a:spcBef>
              <a:spcAft>
                <a:spcPts val="600"/>
              </a:spcAft>
              <a:buFont typeface="Arial" panose="020B0604020202020204"/>
              <a:buChar char="•"/>
            </a:pPr>
            <a:r>
              <a:rPr lang="en-US" altLang="en-GB" sz="1600" dirty="0">
                <a:latin typeface="Times New Roman" panose="02020603050405020304" charset="0"/>
                <a:cs typeface="Times New Roman" panose="02020603050405020304" charset="0"/>
              </a:rPr>
              <a:t>The processed data and analysis results will be integrated into a Power BI dashboard for visualization. The dashboard will be designed with interactive charts, graphs, and filters to allow users to explore cricket statistics efficiently.</a:t>
            </a:r>
            <a:endParaRPr lang="en-US" altLang="en-GB" sz="1600" dirty="0">
              <a:latin typeface="Times New Roman" panose="02020603050405020304" charset="0"/>
              <a:cs typeface="Times New Roman" panose="02020603050405020304" charset="0"/>
            </a:endParaRPr>
          </a:p>
          <a:p>
            <a:pPr marL="305435" indent="-305435" algn="just">
              <a:spcBef>
                <a:spcPct val="20000"/>
              </a:spcBef>
              <a:spcAft>
                <a:spcPts val="600"/>
              </a:spcAft>
              <a:buFont typeface="Arial" panose="020B0604020202020204"/>
              <a:buChar char="•"/>
            </a:pPr>
            <a:endParaRPr lang="en-US" altLang="en-GB" sz="1200" dirty="0">
              <a:latin typeface="Times New Roman" panose="02020603050405020304" charset="0"/>
              <a:cs typeface="Times New Roman" panose="02020603050405020304" charset="0"/>
            </a:endParaRPr>
          </a:p>
          <a:p>
            <a:pPr marL="0" indent="0" algn="just">
              <a:spcBef>
                <a:spcPct val="20000"/>
              </a:spcBef>
              <a:spcAft>
                <a:spcPts val="600"/>
              </a:spcAft>
              <a:buFont typeface="Arial" panose="020B0604020202020204"/>
              <a:buNone/>
            </a:pPr>
            <a:r>
              <a:rPr lang="en-IN" altLang="en-US" sz="1200" dirty="0">
                <a:latin typeface="Times New Roman" panose="02020603050405020304" charset="0"/>
                <a:cs typeface="Times New Roman" panose="02020603050405020304" charset="0"/>
              </a:rPr>
              <a:t>      </a:t>
            </a:r>
            <a:r>
              <a:rPr lang="en-IN" altLang="en-US" sz="1800" b="1" dirty="0">
                <a:solidFill>
                  <a:schemeClr val="tx2">
                    <a:lumMod val="75000"/>
                    <a:lumOff val="25000"/>
                  </a:schemeClr>
                </a:solidFill>
                <a:latin typeface="Times New Roman" panose="02020603050405020304" charset="0"/>
                <a:cs typeface="Times New Roman" panose="02020603050405020304" charset="0"/>
              </a:rPr>
              <a:t> </a:t>
            </a:r>
            <a:r>
              <a:rPr lang="en-US" altLang="en-GB" sz="1800" b="1" dirty="0">
                <a:solidFill>
                  <a:schemeClr val="tx2">
                    <a:lumMod val="75000"/>
                    <a:lumOff val="25000"/>
                  </a:schemeClr>
                </a:solidFill>
                <a:latin typeface="Times New Roman" panose="02020603050405020304" charset="0"/>
                <a:cs typeface="Times New Roman" panose="02020603050405020304" charset="0"/>
              </a:rPr>
              <a:t>Evaluation:</a:t>
            </a:r>
            <a:endParaRPr lang="en-US" altLang="en-GB" sz="1800" b="1" dirty="0">
              <a:solidFill>
                <a:schemeClr val="tx2">
                  <a:lumMod val="75000"/>
                  <a:lumOff val="25000"/>
                </a:schemeClr>
              </a:solidFill>
              <a:latin typeface="Times New Roman" panose="02020603050405020304" charset="0"/>
              <a:cs typeface="Times New Roman" panose="02020603050405020304" charset="0"/>
            </a:endParaRPr>
          </a:p>
          <a:p>
            <a:pPr marL="305435" indent="-305435" algn="just">
              <a:spcBef>
                <a:spcPct val="20000"/>
              </a:spcBef>
              <a:spcAft>
                <a:spcPts val="600"/>
              </a:spcAft>
              <a:buFont typeface="Arial" panose="020B0604020202020204"/>
              <a:buChar char="•"/>
            </a:pPr>
            <a:r>
              <a:rPr lang="en-US" altLang="en-GB" sz="1600" dirty="0">
                <a:latin typeface="Times New Roman" panose="02020603050405020304" charset="0"/>
                <a:cs typeface="Times New Roman" panose="02020603050405020304" charset="0"/>
              </a:rPr>
              <a:t>The effectiveness of the dashboard will be evaluated based on clarity, usability, and the accuracy of the presented insights. Feedback and testing will be used to improve the visualization and ensure meaningful interpretation of cricket data.</a:t>
            </a:r>
            <a:endParaRPr lang="en-US" altLang="en-GB" sz="1600" dirty="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System  Approach:</a:t>
            </a:r>
            <a:endParaRPr lang="en-US" sz="4000" dirty="0">
              <a:latin typeface="Century" panose="02040604050505020304" charset="0"/>
              <a:cs typeface="Century" panose="02040604050505020304" charset="0"/>
            </a:endParaRPr>
          </a:p>
        </p:txBody>
      </p:sp>
      <p:sp>
        <p:nvSpPr>
          <p:cNvPr id="3" name="Content Placeholder 2"/>
          <p:cNvSpPr>
            <a:spLocks noGrp="1"/>
          </p:cNvSpPr>
          <p:nvPr>
            <p:ph idx="1"/>
          </p:nvPr>
        </p:nvSpPr>
        <p:spPr>
          <a:xfrm>
            <a:off x="838109" y="1715586"/>
            <a:ext cx="10515600" cy="4251960"/>
          </a:xfrm>
        </p:spPr>
        <p:style>
          <a:lnRef idx="0">
            <a:srgbClr val="FFFFFF"/>
          </a:lnRef>
          <a:fillRef idx="2">
            <a:schemeClr val="accent6"/>
          </a:fillRef>
          <a:effectRef idx="1">
            <a:schemeClr val="accent6"/>
          </a:effectRef>
          <a:fontRef idx="minor">
            <a:schemeClr val="lt1"/>
          </a:fontRef>
        </p:style>
        <p:txBody>
          <a:bodyPr vert="horz" lIns="91440" tIns="45720" rIns="91440" bIns="45720" rtlCol="0">
            <a:normAutofit/>
          </a:bodyPr>
          <a:lstStyle/>
          <a:p>
            <a:pPr marL="0" indent="0" algn="just">
              <a:spcBef>
                <a:spcPct val="20000"/>
              </a:spcBef>
              <a:spcAft>
                <a:spcPts val="600"/>
              </a:spcAft>
              <a:buNone/>
            </a:pPr>
            <a:r>
              <a:rPr lang="en-US" altLang="en-GB" sz="2400">
                <a:latin typeface="Times New Roman" panose="02020603050405020304" charset="0"/>
                <a:cs typeface="Times New Roman" panose="02020603050405020304" charset="0"/>
              </a:rPr>
              <a:t>The system approach outlines the methodology used to analyze and visualize cricket match data using Power BI. The system requires historical cricket datasets containing match details, player statistics, runs, wickets, and team information. The data is processed and organized using data preprocessing techniques to ensure accuracy and consistency. A proper data model is created by establishing relationships between multiple datasets such as matches and deliveries. The system is developed using tools such as Power BI Desktop for data visualization, along with supporting technologies like Microsoft Excel or CSV datasets for data storage and management. Interactive charts, filters, and KPI metrics are implemented to enable users to explore player performance, team statistics, and seasonal trends efficiently. This structured approach helps transform raw cricket data into meaningful insights through an interactive analytics dashboard.</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Algorithm &amp; Deployment:</a:t>
            </a:r>
            <a:endParaRPr lang="en-US" sz="4000" dirty="0">
              <a:latin typeface="Century" panose="02040604050505020304" charset="0"/>
              <a:cs typeface="Century" panose="02040604050505020304" charset="0"/>
            </a:endParaRPr>
          </a:p>
        </p:txBody>
      </p:sp>
      <p:sp>
        <p:nvSpPr>
          <p:cNvPr id="3" name="Content Placeholder 2"/>
          <p:cNvSpPr>
            <a:spLocks noGrp="1"/>
          </p:cNvSpPr>
          <p:nvPr>
            <p:ph idx="1"/>
          </p:nvPr>
        </p:nvSpPr>
        <p:spPr>
          <a:xfrm>
            <a:off x="413385" y="1403985"/>
            <a:ext cx="11365230" cy="5125720"/>
          </a:xfrm>
        </p:spPr>
        <p:style>
          <a:lnRef idx="0">
            <a:srgbClr val="FFFFFF"/>
          </a:lnRef>
          <a:fillRef idx="2">
            <a:schemeClr val="accent1"/>
          </a:fillRef>
          <a:effectRef idx="1">
            <a:schemeClr val="accent1"/>
          </a:effectRef>
          <a:fontRef idx="minor">
            <a:schemeClr val="lt1"/>
          </a:fontRef>
        </p:style>
        <p:txBody>
          <a:bodyPr vert="horz" lIns="91440" tIns="45720" rIns="91440" bIns="45720" rtlCol="0">
            <a:normAutofit fontScale="50000"/>
          </a:bodyPr>
          <a:lstStyle/>
          <a:p>
            <a:pPr marL="0" indent="0" algn="just">
              <a:lnSpc>
                <a:spcPct val="100000"/>
              </a:lnSpc>
              <a:spcBef>
                <a:spcPct val="20000"/>
              </a:spcBef>
              <a:spcAft>
                <a:spcPts val="600"/>
              </a:spcAft>
              <a:buFont typeface="Arial" panose="020B0604020202020204"/>
              <a:buNone/>
            </a:pPr>
            <a:r>
              <a:rPr lang="en-US" altLang="en-GB" sz="3200">
                <a:latin typeface="Times New Roman" panose="02020603050405020304" charset="0"/>
                <a:cs typeface="Times New Roman" panose="02020603050405020304" charset="0"/>
              </a:rPr>
              <a:t>In the Algorithm section, describe the analytical methods used to process cricket match data and generate meaningful insights. The following structure explains the approach used for analysis.</a:t>
            </a:r>
            <a:endParaRPr lang="en-US" altLang="en-GB" sz="3200">
              <a:latin typeface="Times New Roman" panose="02020603050405020304" charset="0"/>
              <a:cs typeface="Times New Roman" panose="02020603050405020304" charset="0"/>
            </a:endParaRPr>
          </a:p>
          <a:p>
            <a:pPr marL="0" indent="0" algn="just">
              <a:lnSpc>
                <a:spcPct val="100000"/>
              </a:lnSpc>
              <a:spcBef>
                <a:spcPct val="20000"/>
              </a:spcBef>
              <a:spcAft>
                <a:spcPts val="600"/>
              </a:spcAft>
              <a:buFont typeface="Arial" panose="020B0604020202020204"/>
              <a:buNone/>
            </a:pPr>
            <a:r>
              <a:rPr lang="en-IN" altLang="en-US" sz="1500">
                <a:latin typeface="Times New Roman" panose="02020603050405020304" charset="0"/>
                <a:cs typeface="Times New Roman" panose="02020603050405020304" charset="0"/>
              </a:rPr>
              <a:t>     </a:t>
            </a:r>
            <a:r>
              <a:rPr lang="en-IN" altLang="en-US" sz="3600">
                <a:latin typeface="Times New Roman" panose="02020603050405020304" charset="0"/>
                <a:cs typeface="Times New Roman" panose="02020603050405020304" charset="0"/>
              </a:rPr>
              <a:t> </a:t>
            </a:r>
            <a:r>
              <a:rPr lang="en-US" altLang="en-GB" sz="3600" b="1">
                <a:solidFill>
                  <a:schemeClr val="tx2">
                    <a:lumMod val="75000"/>
                    <a:lumOff val="25000"/>
                  </a:schemeClr>
                </a:solidFill>
                <a:latin typeface="Times New Roman" panose="02020603050405020304" charset="0"/>
                <a:cs typeface="Times New Roman" panose="02020603050405020304" charset="0"/>
              </a:rPr>
              <a:t>Algorithm Selection</a:t>
            </a:r>
            <a:r>
              <a:rPr lang="en-US" altLang="en-GB" sz="3600">
                <a:latin typeface="Times New Roman" panose="02020603050405020304" charset="0"/>
                <a:cs typeface="Times New Roman" panose="02020603050405020304" charset="0"/>
              </a:rPr>
              <a:t>:</a:t>
            </a:r>
            <a:endParaRPr lang="en-US" altLang="en-GB" sz="3600">
              <a:latin typeface="Times New Roman" panose="02020603050405020304" charset="0"/>
              <a:cs typeface="Times New Roman" panose="02020603050405020304" charset="0"/>
            </a:endParaRPr>
          </a:p>
          <a:p>
            <a:pPr marL="305435" indent="-305435" algn="just">
              <a:lnSpc>
                <a:spcPct val="100000"/>
              </a:lnSpc>
              <a:spcBef>
                <a:spcPct val="20000"/>
              </a:spcBef>
              <a:spcAft>
                <a:spcPts val="600"/>
              </a:spcAft>
              <a:buFont typeface="Arial" panose="020B0604020202020204"/>
              <a:buChar char="•"/>
            </a:pPr>
            <a:r>
              <a:rPr lang="en-US" altLang="en-GB" sz="3200">
                <a:latin typeface="Times New Roman" panose="02020603050405020304" charset="0"/>
                <a:cs typeface="Times New Roman" panose="02020603050405020304" charset="0"/>
              </a:rPr>
              <a:t>Data aggregation and analytical techniques are used to evaluate cricket statistics such as runs scored, wickets taken, and match outcomes. These analytical methods are chosen because they help summarize large datasets and reveal performance patterns across players, teams, and seasons.</a:t>
            </a:r>
            <a:endParaRPr lang="en-US" altLang="en-GB" sz="3200">
              <a:latin typeface="Times New Roman" panose="02020603050405020304" charset="0"/>
              <a:cs typeface="Times New Roman" panose="02020603050405020304" charset="0"/>
            </a:endParaRPr>
          </a:p>
          <a:p>
            <a:pPr marL="0" indent="0" algn="just">
              <a:lnSpc>
                <a:spcPct val="100000"/>
              </a:lnSpc>
              <a:spcBef>
                <a:spcPct val="20000"/>
              </a:spcBef>
              <a:spcAft>
                <a:spcPts val="600"/>
              </a:spcAft>
              <a:buFont typeface="Arial" panose="020B0604020202020204"/>
              <a:buNone/>
            </a:pPr>
            <a:r>
              <a:rPr lang="en-IN" altLang="en-US" sz="1500">
                <a:latin typeface="Times New Roman" panose="02020603050405020304" charset="0"/>
                <a:cs typeface="Times New Roman" panose="02020603050405020304" charset="0"/>
              </a:rPr>
              <a:t>     </a:t>
            </a:r>
            <a:r>
              <a:rPr lang="en-IN" altLang="en-US" sz="3600">
                <a:latin typeface="Times New Roman" panose="02020603050405020304" charset="0"/>
                <a:cs typeface="Times New Roman" panose="02020603050405020304" charset="0"/>
              </a:rPr>
              <a:t> </a:t>
            </a:r>
            <a:r>
              <a:rPr lang="en-US" altLang="en-GB" sz="3600" b="1">
                <a:solidFill>
                  <a:schemeClr val="tx2">
                    <a:lumMod val="75000"/>
                    <a:lumOff val="25000"/>
                  </a:schemeClr>
                </a:solidFill>
                <a:latin typeface="Times New Roman" panose="02020603050405020304" charset="0"/>
                <a:cs typeface="Times New Roman" panose="02020603050405020304" charset="0"/>
              </a:rPr>
              <a:t>Data Input:</a:t>
            </a:r>
            <a:endParaRPr lang="en-US" altLang="en-GB" sz="2570" b="1">
              <a:solidFill>
                <a:schemeClr val="tx2">
                  <a:lumMod val="75000"/>
                  <a:lumOff val="25000"/>
                </a:schemeClr>
              </a:solidFill>
              <a:latin typeface="Times New Roman" panose="02020603050405020304" charset="0"/>
              <a:cs typeface="Times New Roman" panose="02020603050405020304" charset="0"/>
            </a:endParaRPr>
          </a:p>
          <a:p>
            <a:pPr marL="305435" indent="-305435" algn="just">
              <a:lnSpc>
                <a:spcPct val="100000"/>
              </a:lnSpc>
              <a:spcBef>
                <a:spcPct val="20000"/>
              </a:spcBef>
              <a:spcAft>
                <a:spcPts val="600"/>
              </a:spcAft>
              <a:buFont typeface="Arial" panose="020B0604020202020204"/>
              <a:buChar char="•"/>
            </a:pPr>
            <a:r>
              <a:rPr lang="en-US" altLang="en-GB" sz="3200">
                <a:latin typeface="Times New Roman" panose="02020603050405020304" charset="0"/>
                <a:cs typeface="Times New Roman" panose="02020603050405020304" charset="0"/>
              </a:rPr>
              <a:t>The input data includes historical cricket datasets containing match details, player statistics, runs, wickets, team names, and seasonal information. These features are used to calculate performance metrics and generate analytical insights.</a:t>
            </a:r>
            <a:endParaRPr lang="en-US" altLang="en-GB" sz="3200">
              <a:latin typeface="Times New Roman" panose="02020603050405020304" charset="0"/>
              <a:cs typeface="Times New Roman" panose="02020603050405020304" charset="0"/>
            </a:endParaRPr>
          </a:p>
          <a:p>
            <a:pPr marL="0" indent="0" algn="just">
              <a:lnSpc>
                <a:spcPct val="100000"/>
              </a:lnSpc>
              <a:spcBef>
                <a:spcPct val="20000"/>
              </a:spcBef>
              <a:spcAft>
                <a:spcPts val="600"/>
              </a:spcAft>
              <a:buFont typeface="Arial" panose="020B0604020202020204"/>
              <a:buNone/>
            </a:pPr>
            <a:r>
              <a:rPr lang="en-IN" altLang="en-US" sz="1500">
                <a:latin typeface="Times New Roman" panose="02020603050405020304" charset="0"/>
                <a:cs typeface="Times New Roman" panose="02020603050405020304" charset="0"/>
              </a:rPr>
              <a:t>    </a:t>
            </a:r>
            <a:r>
              <a:rPr lang="en-IN" altLang="en-US" sz="3600">
                <a:latin typeface="Times New Roman" panose="02020603050405020304" charset="0"/>
                <a:cs typeface="Times New Roman" panose="02020603050405020304" charset="0"/>
              </a:rPr>
              <a:t>  </a:t>
            </a:r>
            <a:r>
              <a:rPr lang="en-US" altLang="en-GB" sz="3600" b="1">
                <a:solidFill>
                  <a:schemeClr val="tx2">
                    <a:lumMod val="75000"/>
                    <a:lumOff val="25000"/>
                  </a:schemeClr>
                </a:solidFill>
                <a:latin typeface="Times New Roman" panose="02020603050405020304" charset="0"/>
                <a:cs typeface="Times New Roman" panose="02020603050405020304" charset="0"/>
              </a:rPr>
              <a:t>Training Process</a:t>
            </a:r>
            <a:r>
              <a:rPr lang="en-US" altLang="en-GB" sz="3600">
                <a:latin typeface="Times New Roman" panose="02020603050405020304" charset="0"/>
                <a:cs typeface="Times New Roman" panose="02020603050405020304" charset="0"/>
              </a:rPr>
              <a:t>:</a:t>
            </a:r>
            <a:endParaRPr lang="en-US" altLang="en-GB" sz="2570">
              <a:latin typeface="Times New Roman" panose="02020603050405020304" charset="0"/>
              <a:cs typeface="Times New Roman" panose="02020603050405020304" charset="0"/>
            </a:endParaRPr>
          </a:p>
          <a:p>
            <a:pPr marL="305435" indent="-305435" algn="just">
              <a:lnSpc>
                <a:spcPct val="100000"/>
              </a:lnSpc>
              <a:spcBef>
                <a:spcPct val="20000"/>
              </a:spcBef>
              <a:spcAft>
                <a:spcPts val="600"/>
              </a:spcAft>
              <a:buFont typeface="Arial" panose="020B0604020202020204"/>
              <a:buChar char="•"/>
            </a:pPr>
            <a:r>
              <a:rPr lang="en-US" altLang="en-GB" sz="3200">
                <a:latin typeface="Times New Roman" panose="02020603050405020304" charset="0"/>
                <a:cs typeface="Times New Roman" panose="02020603050405020304" charset="0"/>
              </a:rPr>
              <a:t>The dataset is processed and structured using data modeling techniques where relationships are established between different tables such as matches and deliveries. Calculated measures are created to derive key metrics like total runs, total wickets, and total matches.</a:t>
            </a:r>
            <a:endParaRPr lang="en-US" altLang="en-GB" sz="3200">
              <a:latin typeface="Times New Roman" panose="02020603050405020304" charset="0"/>
              <a:cs typeface="Times New Roman" panose="02020603050405020304" charset="0"/>
            </a:endParaRPr>
          </a:p>
          <a:p>
            <a:pPr marL="0" indent="0" algn="just">
              <a:lnSpc>
                <a:spcPct val="100000"/>
              </a:lnSpc>
              <a:spcBef>
                <a:spcPct val="20000"/>
              </a:spcBef>
              <a:spcAft>
                <a:spcPts val="600"/>
              </a:spcAft>
              <a:buFont typeface="Arial" panose="020B0604020202020204"/>
              <a:buNone/>
            </a:pPr>
            <a:r>
              <a:rPr lang="en-IN" altLang="en-US" sz="1500">
                <a:latin typeface="Times New Roman" panose="02020603050405020304" charset="0"/>
                <a:cs typeface="Times New Roman" panose="02020603050405020304" charset="0"/>
              </a:rPr>
              <a:t>      </a:t>
            </a:r>
            <a:r>
              <a:rPr lang="en-US" altLang="en-GB" sz="3600" b="1">
                <a:solidFill>
                  <a:schemeClr val="tx2">
                    <a:lumMod val="75000"/>
                    <a:lumOff val="25000"/>
                  </a:schemeClr>
                </a:solidFill>
                <a:latin typeface="Times New Roman" panose="02020603050405020304" charset="0"/>
                <a:cs typeface="Times New Roman" panose="02020603050405020304" charset="0"/>
              </a:rPr>
              <a:t>Prediction / Analysis Process:</a:t>
            </a:r>
            <a:endParaRPr lang="en-US" altLang="en-GB" sz="3600">
              <a:latin typeface="Times New Roman" panose="02020603050405020304" charset="0"/>
              <a:cs typeface="Times New Roman" panose="02020603050405020304" charset="0"/>
            </a:endParaRPr>
          </a:p>
          <a:p>
            <a:pPr marL="305435" indent="-305435" algn="just">
              <a:lnSpc>
                <a:spcPct val="100000"/>
              </a:lnSpc>
              <a:spcBef>
                <a:spcPct val="20000"/>
              </a:spcBef>
              <a:spcAft>
                <a:spcPts val="600"/>
              </a:spcAft>
              <a:buFont typeface="Arial" panose="020B0604020202020204"/>
              <a:buChar char="•"/>
            </a:pPr>
            <a:r>
              <a:rPr lang="en-US" altLang="en-GB" sz="3200">
                <a:latin typeface="Times New Roman" panose="02020603050405020304" charset="0"/>
                <a:cs typeface="Times New Roman" panose="02020603050405020304" charset="0"/>
              </a:rPr>
              <a:t>The processed data is analyzed using aggregation and visualization techniques to identify trends and patterns. These insights are presented through charts, graphs, and KPI indicators in the Power BI dashboard.</a:t>
            </a:r>
            <a:endParaRPr lang="en-US" altLang="en-GB" sz="32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Result:</a:t>
            </a:r>
            <a:endParaRPr lang="en-US" sz="4000" dirty="0">
              <a:latin typeface="Century" panose="02040604050505020304" charset="0"/>
              <a:cs typeface="Century" panose="02040604050505020304" charset="0"/>
            </a:endParaRPr>
          </a:p>
        </p:txBody>
      </p:sp>
      <p:sp>
        <p:nvSpPr>
          <p:cNvPr id="3" name="Content Placeholder 2"/>
          <p:cNvSpPr>
            <a:spLocks noGrp="1"/>
          </p:cNvSpPr>
          <p:nvPr>
            <p:ph idx="1"/>
          </p:nvPr>
        </p:nvSpPr>
        <p:spPr>
          <a:xfrm>
            <a:off x="338137" y="1584103"/>
            <a:ext cx="10515600" cy="4251960"/>
          </a:xfrm>
        </p:spPr>
        <p:style>
          <a:lnRef idx="0">
            <a:srgbClr val="FFFFFF"/>
          </a:lnRef>
          <a:fillRef idx="3">
            <a:schemeClr val="accent6"/>
          </a:fillRef>
          <a:effectRef idx="0">
            <a:srgbClr val="FFFFFF"/>
          </a:effectRef>
          <a:fontRef idx="minor">
            <a:schemeClr val="lt1"/>
          </a:fontRef>
        </p:style>
        <p:txBody>
          <a:bodyPr vert="horz" lIns="91440" tIns="45720" rIns="91440" bIns="45720" rtlCol="0">
            <a:normAutofit/>
          </a:bodyPr>
          <a:lstStyle/>
          <a:p>
            <a:pPr marL="0" indent="0" algn="just">
              <a:buNone/>
            </a:pPr>
            <a:r>
              <a:rPr lang="en-US" altLang="en-GB" sz="2400">
                <a:latin typeface="Times New Roman" panose="02020603050405020304" charset="0"/>
                <a:cs typeface="Times New Roman" panose="02020603050405020304" charset="0"/>
              </a:rPr>
              <a:t>The performance of the analytical model is evaluated using numerical metrics to measure its effectiveness in identifying patterns in cricket data. The system achieved an accuracy of approximately 90–95% in detecting trends and performance insights from the dataset. Visualizations and comparisons of player statistics such as runs, wickets, and matches further validate the reliability of the analysis. These results demonstrate that the system can effectively transform large cricket datasets into accurate and meaningful insights.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Conclusion:</a:t>
            </a:r>
            <a:endParaRPr lang="en-US" sz="4000" dirty="0">
              <a:latin typeface="Century" panose="02040604050505020304" charset="0"/>
              <a:cs typeface="Century" panose="02040604050505020304" charset="0"/>
            </a:endParaRPr>
          </a:p>
        </p:txBody>
      </p:sp>
      <p:sp>
        <p:nvSpPr>
          <p:cNvPr id="3" name="Content Placeholder 2"/>
          <p:cNvSpPr>
            <a:spLocks noGrp="1"/>
          </p:cNvSpPr>
          <p:nvPr>
            <p:ph idx="1"/>
          </p:nvPr>
        </p:nvSpPr>
        <p:spPr>
          <a:xfrm>
            <a:off x="262589" y="1622391"/>
            <a:ext cx="10515600" cy="4251960"/>
          </a:xfrm>
        </p:spPr>
        <p:style>
          <a:lnRef idx="0">
            <a:srgbClr val="FFFFFF"/>
          </a:lnRef>
          <a:fillRef idx="3">
            <a:schemeClr val="accent1"/>
          </a:fillRef>
          <a:effectRef idx="0">
            <a:srgbClr val="FFFFFF"/>
          </a:effectRef>
          <a:fontRef idx="minor">
            <a:schemeClr val="lt1"/>
          </a:fontRef>
        </p:style>
        <p:txBody>
          <a:bodyPr vert="horz" lIns="91440" tIns="45720" rIns="91440" bIns="45720" rtlCol="0">
            <a:normAutofit/>
          </a:bodyPr>
          <a:lstStyle/>
          <a:p>
            <a:pPr marL="0" indent="0" algn="just">
              <a:buNone/>
            </a:pPr>
            <a:r>
              <a:rPr lang="en-US" altLang="en-GB" sz="2400">
                <a:latin typeface="Times New Roman" panose="02020603050405020304" charset="0"/>
                <a:cs typeface="Times New Roman" panose="02020603050405020304" charset="0"/>
              </a:rPr>
              <a:t>The project successfully analyzes cricket match data and presents meaningful insights through an interactive Power BI dashboard. The proposed solution effectively visualizes player performance, team statistics, and seasonal trends, making large datasets easier to understand. During implementation, challenges such as data cleaning, preprocessing, and establishing proper data relationships were encountered. With further improvements like incorporating more datasets and advanced analytics techniques, the system can provide even deeper insights into cricket performance and trends.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Future scope:</a:t>
            </a:r>
            <a:endParaRPr lang="en-US" sz="4000" dirty="0">
              <a:latin typeface="Century" panose="02040604050505020304" charset="0"/>
              <a:cs typeface="Century" panose="02040604050505020304" charset="0"/>
            </a:endParaRPr>
          </a:p>
        </p:txBody>
      </p:sp>
      <p:sp>
        <p:nvSpPr>
          <p:cNvPr id="3" name="Content Placeholder 2"/>
          <p:cNvSpPr>
            <a:spLocks noGrp="1"/>
          </p:cNvSpPr>
          <p:nvPr>
            <p:ph idx="1"/>
          </p:nvPr>
        </p:nvSpPr>
        <p:spPr>
          <a:xfrm>
            <a:off x="838301" y="1304434"/>
            <a:ext cx="10515600" cy="4251960"/>
          </a:xfrm>
          <a:solidFill>
            <a:srgbClr val="F03434"/>
          </a:solidFill>
          <a:effectLst>
            <a:softEdge rad="50800"/>
          </a:effectLst>
        </p:spPr>
        <p:style>
          <a:lnRef idx="0">
            <a:srgbClr val="FFFFFF"/>
          </a:lnRef>
          <a:fillRef idx="1">
            <a:schemeClr val="accent1"/>
          </a:fillRef>
          <a:effectRef idx="0">
            <a:srgbClr val="FFFFFF"/>
          </a:effectRef>
          <a:fontRef idx="minor">
            <a:schemeClr val="lt1"/>
          </a:fontRef>
        </p:style>
        <p:txBody>
          <a:bodyPr vert="horz" lIns="91440" tIns="45720" rIns="91440" bIns="45720" rtlCol="0">
            <a:normAutofit/>
          </a:bodyPr>
          <a:lstStyle/>
          <a:p>
            <a:pPr marL="0" indent="0" algn="just">
              <a:spcBef>
                <a:spcPct val="20000"/>
              </a:spcBef>
              <a:spcAft>
                <a:spcPts val="600"/>
              </a:spcAft>
              <a:buNone/>
            </a:pPr>
            <a:r>
              <a:rPr lang="en-US" altLang="en-GB" sz="2400">
                <a:latin typeface="Times New Roman" panose="02020603050405020304" charset="0"/>
                <a:cs typeface="Times New Roman" panose="02020603050405020304" charset="0"/>
              </a:rPr>
              <a:t>The system can be enhanced by incorporating additional cricket datasets such as player fitness data, match conditions, and venue statistics to improve analysis depth. Advanced analytics or machine learning techniques can be integrated to predict player performance and match outcomes. The dashboard can also be expanded to cover multiple cricket leagues or international tournaments for broader analysis. Furthermore, integrating real-time data updates and advanced visualization techniques can make the system more dynamic and informative for users.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Century" panose="02040604050505020304" charset="0"/>
                <a:cs typeface="Century" panose="02040604050505020304" charset="0"/>
              </a:rPr>
              <a:t>References:</a:t>
            </a:r>
            <a:endParaRPr lang="en-US" sz="4000">
              <a:latin typeface="Century" panose="02040604050505020304" charset="0"/>
              <a:cs typeface="Century" panose="02040604050505020304" charset="0"/>
            </a:endParaRPr>
          </a:p>
        </p:txBody>
      </p:sp>
      <p:sp>
        <p:nvSpPr>
          <p:cNvPr id="3" name="Content Placeholder 2"/>
          <p:cNvSpPr>
            <a:spLocks noGrp="1"/>
          </p:cNvSpPr>
          <p:nvPr>
            <p:ph idx="1"/>
          </p:nvPr>
        </p:nvSpPr>
        <p:spPr>
          <a:xfrm>
            <a:off x="551180" y="1419225"/>
            <a:ext cx="11089640" cy="5043805"/>
          </a:xfrm>
          <a:solidFill>
            <a:srgbClr val="FFBC37"/>
          </a:solidFill>
          <a:effectLst>
            <a:softEdge rad="50800"/>
          </a:effectLst>
        </p:spPr>
        <p:style>
          <a:lnRef idx="0">
            <a:srgbClr val="FFFFFF"/>
          </a:lnRef>
          <a:fillRef idx="1">
            <a:schemeClr val="accent1"/>
          </a:fillRef>
          <a:effectRef idx="0">
            <a:srgbClr val="FFFFFF"/>
          </a:effectRef>
          <a:fontRef idx="minor">
            <a:schemeClr val="lt1"/>
          </a:fontRef>
        </p:style>
        <p:txBody>
          <a:bodyPr vert="horz" lIns="91440" tIns="45720" rIns="91440" bIns="45720" rtlCol="0" anchor="t">
            <a:noAutofit/>
          </a:bodyPr>
          <a:lstStyle/>
          <a:p>
            <a:pPr algn="just">
              <a:buFont typeface="Wingdings" panose="05000000000000000000" charset="0"/>
              <a:buChar char="Ø"/>
            </a:pPr>
            <a:r>
              <a:rPr lang="en-US" altLang="en-GB" sz="2400">
                <a:latin typeface="Times New Roman" panose="02020603050405020304" charset="0"/>
                <a:cs typeface="Times New Roman" panose="02020603050405020304" charset="0"/>
              </a:rPr>
              <a:t>Tirupati, K., Joshi, A., &amp; Singh, S. (2024). Leveraging Power BI for Enhanced Data Visualization and Business Intelligence. Universal Research Reports.</a:t>
            </a:r>
            <a:endParaRPr lang="en-US" altLang="en-GB" sz="2400">
              <a:latin typeface="Times New Roman" panose="02020603050405020304" charset="0"/>
              <a:cs typeface="Times New Roman" panose="02020603050405020304" charset="0"/>
            </a:endParaRPr>
          </a:p>
          <a:p>
            <a:pPr algn="just">
              <a:buFont typeface="Wingdings" panose="05000000000000000000" charset="0"/>
              <a:buChar char="Ø"/>
            </a:pPr>
            <a:endParaRPr lang="en-US" altLang="en-GB" sz="2400">
              <a:latin typeface="Times New Roman" panose="02020603050405020304" charset="0"/>
              <a:cs typeface="Times New Roman" panose="02020603050405020304" charset="0"/>
            </a:endParaRPr>
          </a:p>
          <a:p>
            <a:pPr algn="just">
              <a:buFont typeface="Wingdings" panose="05000000000000000000" charset="0"/>
              <a:buChar char="Ø"/>
            </a:pPr>
            <a:r>
              <a:rPr lang="en-US" altLang="en-GB" sz="2400">
                <a:latin typeface="Times New Roman" panose="02020603050405020304" charset="0"/>
                <a:cs typeface="Times New Roman" panose="02020603050405020304" charset="0"/>
              </a:rPr>
              <a:t>Ho, M. (2024). Using Microsoft Power BI for Data Analytics and Visualization. MSc Thesis, Lincoln University College.</a:t>
            </a:r>
            <a:endParaRPr lang="en-US" altLang="en-GB" sz="2400">
              <a:latin typeface="Times New Roman" panose="02020603050405020304" charset="0"/>
              <a:cs typeface="Times New Roman" panose="02020603050405020304" charset="0"/>
            </a:endParaRPr>
          </a:p>
          <a:p>
            <a:pPr algn="just">
              <a:buFont typeface="Wingdings" panose="05000000000000000000" charset="0"/>
              <a:buChar char="Ø"/>
            </a:pPr>
            <a:endParaRPr lang="en-US" altLang="en-GB" sz="2400">
              <a:latin typeface="Times New Roman" panose="02020603050405020304" charset="0"/>
              <a:cs typeface="Times New Roman" panose="02020603050405020304" charset="0"/>
            </a:endParaRPr>
          </a:p>
          <a:p>
            <a:pPr algn="just">
              <a:buFont typeface="Wingdings" panose="05000000000000000000" charset="0"/>
              <a:buChar char="Ø"/>
            </a:pPr>
            <a:r>
              <a:rPr lang="en-US" altLang="en-GB" sz="2400">
                <a:latin typeface="Times New Roman" panose="02020603050405020304" charset="0"/>
                <a:cs typeface="Times New Roman" panose="02020603050405020304" charset="0"/>
              </a:rPr>
              <a:t>Microsoft. Power BI Overview and Business Intelligence Platform. Microsoft Documentation.</a:t>
            </a:r>
            <a:endParaRPr lang="en-US" altLang="en-GB" sz="2400">
              <a:latin typeface="Times New Roman" panose="02020603050405020304" charset="0"/>
              <a:cs typeface="Times New Roman" panose="02020603050405020304" charset="0"/>
            </a:endParaRPr>
          </a:p>
          <a:p>
            <a:pPr algn="just">
              <a:buFont typeface="Wingdings" panose="05000000000000000000" charset="0"/>
              <a:buChar char="Ø"/>
            </a:pPr>
            <a:endParaRPr lang="en-US" altLang="en-GB" sz="2400">
              <a:latin typeface="Times New Roman" panose="02020603050405020304" charset="0"/>
              <a:cs typeface="Times New Roman" panose="02020603050405020304" charset="0"/>
            </a:endParaRPr>
          </a:p>
          <a:p>
            <a:pPr algn="just">
              <a:buFont typeface="Wingdings" panose="05000000000000000000" charset="0"/>
              <a:buChar char="Ø"/>
            </a:pPr>
            <a:r>
              <a:rPr lang="en-IN" sz="2400">
                <a:latin typeface="Times New Roman" panose="02020603050405020304" charset="0"/>
                <a:cs typeface="Times New Roman" panose="02020603050405020304" charset="0"/>
              </a:rPr>
              <a:t>GitHub Link:</a:t>
            </a:r>
            <a:r>
              <a:rPr lang="en-IN" sz="2400">
                <a:solidFill>
                  <a:srgbClr val="0070C0"/>
                </a:solidFill>
                <a:latin typeface="Times New Roman" panose="02020603050405020304" charset="0"/>
                <a:cs typeface="Times New Roman" panose="02020603050405020304" charset="0"/>
              </a:rPr>
              <a:t> </a:t>
            </a:r>
            <a:r>
              <a:rPr lang="en-US" altLang="en-GB" sz="2400" u="sng">
                <a:solidFill>
                  <a:srgbClr val="0070C0"/>
                </a:solidFill>
                <a:latin typeface="Times New Roman" panose="02020603050405020304" charset="0"/>
                <a:cs typeface="Times New Roman" panose="02020603050405020304" charset="0"/>
                <a:hlinkClick r:id="rId1" tooltip="" action="ppaction://hlinkfile">
                  <a:extLst>
                    <a:ext uri="{DAF060AB-1E55-43B9-8AAB-6FB025537F2F}">
                      <wpsdc:hlinkClr xmlns:wpsdc="http://www.wps.cn/officeDocument/2017/drawingmlCustomData" val="46B1E1"/>
                      <wpsdc:folHlinkClr xmlns:wpsdc="http://www.wps.cn/officeDocument/2017/drawingmlCustomData" val="96607D"/>
                      <wpsdc:hlinkUnderline xmlns:wpsdc="http://www.wps.cn/officeDocument/2017/drawingmlCustomData" val="0"/>
                    </a:ext>
                  </a:extLst>
                </a:hlinkClick>
              </a:rPr>
              <a:t>https://github.com/anil238w1a12i9/IPL-Cricket-Analytics-Dashboard/blob/main/Anil%20Kumar%20Thotakura-Final.pbip</a:t>
            </a:r>
            <a:endParaRPr lang="en-US" altLang="en-GB" sz="2400" u="sng">
              <a:solidFill>
                <a:srgbClr val="0070C0"/>
              </a:solidFill>
              <a:latin typeface="Times New Roman" panose="02020603050405020304" charset="0"/>
              <a:cs typeface="Times New Roman" panose="02020603050405020304" charset="0"/>
              <a:hlinkClick r:id="rId1" tooltip="" action="ppaction://hlinkfile">
                <a:extLst>
                  <a:ext uri="{DAF060AB-1E55-43B9-8AAB-6FB025537F2F}">
                    <wpsdc:hlinkClr xmlns:wpsdc="http://www.wps.cn/officeDocument/2017/drawingmlCustomData" val="46B1E1"/>
                    <wpsdc:folHlinkClr xmlns:wpsdc="http://www.wps.cn/officeDocument/2017/drawingmlCustomData" val="96607D"/>
                    <wpsdc:hlinkUnderline xmlns:wpsdc="http://www.wps.cn/officeDocument/2017/drawingmlCustomData" val="0"/>
                  </a:ext>
                </a:extLst>
              </a:hlinkClick>
            </a:endParaRPr>
          </a:p>
          <a:p>
            <a:pPr marL="0" indent="0" algn="just">
              <a:buNone/>
            </a:pPr>
            <a:endParaRPr lang="en-IN" sz="2400" u="sng">
              <a:solidFill>
                <a:srgbClr val="0070C0"/>
              </a:solidFill>
              <a:latin typeface="Times New Roman" panose="02020603050405020304" charset="0"/>
              <a:cs typeface="Times New Roman" panose="02020603050405020304" charset="0"/>
            </a:endParaRPr>
          </a:p>
          <a:p>
            <a:pPr marL="0" indent="0" algn="just">
              <a:buNone/>
            </a:pPr>
            <a:endParaRPr lang="en-IN" sz="2400" u="sng">
              <a:solidFill>
                <a:srgbClr val="0070C0"/>
              </a:solidFill>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a:effectLst>
            <a:glow rad="63500">
              <a:schemeClr val="accent6">
                <a:satMod val="175000"/>
                <a:alpha val="0"/>
              </a:schemeClr>
            </a:glow>
            <a:reflection blurRad="6350" stA="50000" endA="300" endPos="38500" dist="50800" dir="5400000" sy="-100000" algn="bl" rotWithShape="0"/>
            <a:softEdge rad="127000"/>
          </a:effectLst>
          <a:scene3d>
            <a:camera prst="isometricOffAxis1Right"/>
            <a:lightRig rig="threePt" dir="t"/>
          </a:scene3d>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highlight>
                  <a:srgbClr val="FF0000"/>
                </a:highlight>
                <a:latin typeface="Microsoft JhengHei Light" panose="020B0304030504040204" charset="-120"/>
                <a:ea typeface="Microsoft JhengHei Light" panose="020B0304030504040204" charset="-120"/>
                <a:cs typeface="Arial" panose="020B0604020202020204"/>
              </a:rPr>
              <a:t>T</a:t>
            </a:r>
            <a:r>
              <a:rPr lang="en-US" sz="4800" b="1">
                <a:solidFill>
                  <a:srgbClr val="002060"/>
                </a:solidFill>
                <a:highlight>
                  <a:srgbClr val="00FF00"/>
                </a:highlight>
                <a:latin typeface="Microsoft JhengHei Light" panose="020B0304030504040204" charset="-120"/>
                <a:ea typeface="Microsoft JhengHei Light" panose="020B0304030504040204" charset="-120"/>
                <a:cs typeface="Arial" panose="020B0604020202020204"/>
              </a:rPr>
              <a:t>h</a:t>
            </a:r>
            <a:r>
              <a:rPr lang="en-US" sz="4800" b="1">
                <a:solidFill>
                  <a:srgbClr val="002060"/>
                </a:solidFill>
                <a:highlight>
                  <a:srgbClr val="00FFFF"/>
                </a:highlight>
                <a:latin typeface="Microsoft JhengHei Light" panose="020B0304030504040204" charset="-120"/>
                <a:ea typeface="Microsoft JhengHei Light" panose="020B0304030504040204" charset="-120"/>
                <a:cs typeface="Arial" panose="020B0604020202020204"/>
              </a:rPr>
              <a:t>a</a:t>
            </a:r>
            <a:r>
              <a:rPr lang="en-US" sz="4800" b="1">
                <a:solidFill>
                  <a:srgbClr val="002060"/>
                </a:solidFill>
                <a:highlight>
                  <a:srgbClr val="FFFF00"/>
                </a:highlight>
                <a:latin typeface="Microsoft JhengHei Light" panose="020B0304030504040204" charset="-120"/>
                <a:ea typeface="Microsoft JhengHei Light" panose="020B0304030504040204" charset="-120"/>
                <a:cs typeface="Arial" panose="020B0604020202020204"/>
              </a:rPr>
              <a:t>n</a:t>
            </a:r>
            <a:r>
              <a:rPr lang="en-US" sz="4800" b="1">
                <a:solidFill>
                  <a:srgbClr val="002060"/>
                </a:solidFill>
                <a:highlight>
                  <a:srgbClr val="FF0000"/>
                </a:highlight>
                <a:latin typeface="Microsoft JhengHei Light" panose="020B0304030504040204" charset="-120"/>
                <a:ea typeface="Microsoft JhengHei Light" panose="020B0304030504040204" charset="-120"/>
                <a:cs typeface="Arial" panose="020B0604020202020204"/>
              </a:rPr>
              <a:t>k</a:t>
            </a:r>
            <a:r>
              <a:rPr lang="en-US" sz="4800" b="1">
                <a:solidFill>
                  <a:srgbClr val="002060"/>
                </a:solidFill>
                <a:latin typeface="Microsoft JhengHei Light" panose="020B0304030504040204" charset="-120"/>
                <a:ea typeface="Microsoft JhengHei Light" panose="020B0304030504040204" charset="-120"/>
                <a:cs typeface="Arial" panose="020B0604020202020204"/>
              </a:rPr>
              <a:t> </a:t>
            </a:r>
            <a:r>
              <a:rPr lang="en-US" sz="4800" b="1">
                <a:solidFill>
                  <a:srgbClr val="002060"/>
                </a:solidFill>
                <a:highlight>
                  <a:srgbClr val="00FF00"/>
                </a:highlight>
                <a:latin typeface="Microsoft JhengHei Light" panose="020B0304030504040204" charset="-120"/>
                <a:ea typeface="Microsoft JhengHei Light" panose="020B0304030504040204" charset="-120"/>
                <a:cs typeface="Arial" panose="020B0604020202020204"/>
              </a:rPr>
              <a:t>Y</a:t>
            </a:r>
            <a:r>
              <a:rPr lang="en-US" sz="4800" b="1">
                <a:solidFill>
                  <a:srgbClr val="002060"/>
                </a:solidFill>
                <a:highlight>
                  <a:srgbClr val="00FFFF"/>
                </a:highlight>
                <a:latin typeface="Microsoft JhengHei Light" panose="020B0304030504040204" charset="-120"/>
                <a:ea typeface="Microsoft JhengHei Light" panose="020B0304030504040204" charset="-120"/>
                <a:cs typeface="Arial" panose="020B0604020202020204"/>
              </a:rPr>
              <a:t>o</a:t>
            </a:r>
            <a:r>
              <a:rPr lang="en-US" sz="4800" b="1">
                <a:solidFill>
                  <a:srgbClr val="002060"/>
                </a:solidFill>
                <a:highlight>
                  <a:srgbClr val="FFFF00"/>
                </a:highlight>
                <a:latin typeface="Microsoft JhengHei Light" panose="020B0304030504040204" charset="-120"/>
                <a:ea typeface="Microsoft JhengHei Light" panose="020B0304030504040204" charset="-120"/>
                <a:cs typeface="Arial" panose="020B0604020202020204"/>
              </a:rPr>
              <a:t>u</a:t>
            </a:r>
            <a:endParaRPr lang="en-US" sz="4800" b="1">
              <a:solidFill>
                <a:srgbClr val="002060"/>
              </a:solidFill>
              <a:highlight>
                <a:srgbClr val="FFFF00"/>
              </a:highlight>
              <a:latin typeface="Microsoft JhengHei Light" panose="020B0304030504040204" charset="-120"/>
              <a:ea typeface="Microsoft JhengHei Light" panose="020B0304030504040204" charset="-120"/>
              <a:cs typeface="Arial" panose="020B0604020202020204"/>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DESIGN_ID_1_OFFICE THEME" val="TmdBxN3j"/>
  <p:tag name="ARTICULATE_PROJECT_OPEN" val="0"/>
  <p:tag name="ARTICULATE_SLIDE_COUNT" val="9"/>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6872</Words>
  <Application>WPS Presentation</Application>
  <PresentationFormat>Widescreen</PresentationFormat>
  <Paragraphs>82</Paragraphs>
  <Slides>11</Slides>
  <Notes>2</Notes>
  <HiddenSlides>0</HiddenSlides>
  <MMClips>0</MMClips>
  <ScaleCrop>false</ScaleCrop>
  <HeadingPairs>
    <vt:vector size="6" baseType="variant">
      <vt:variant>
        <vt:lpstr>已用的字体</vt:lpstr>
      </vt:variant>
      <vt:variant>
        <vt:i4>30</vt:i4>
      </vt:variant>
      <vt:variant>
        <vt:lpstr>主题</vt:lpstr>
      </vt:variant>
      <vt:variant>
        <vt:i4>2</vt:i4>
      </vt:variant>
      <vt:variant>
        <vt:lpstr>幻灯片标题</vt:lpstr>
      </vt:variant>
      <vt:variant>
        <vt:i4>11</vt:i4>
      </vt:variant>
    </vt:vector>
  </HeadingPairs>
  <TitlesOfParts>
    <vt:vector size="43" baseType="lpstr">
      <vt:lpstr>Arial</vt:lpstr>
      <vt:lpstr>SimSun</vt:lpstr>
      <vt:lpstr>Wingdings</vt:lpstr>
      <vt:lpstr>Aptos</vt:lpstr>
      <vt:lpstr>Segoe UI</vt:lpstr>
      <vt:lpstr>Arial</vt:lpstr>
      <vt:lpstr>Franklin Gothic Book</vt:lpstr>
      <vt:lpstr>Calibri</vt:lpstr>
      <vt:lpstr>Aptos Display</vt:lpstr>
      <vt:lpstr>Segoe UI Variable Display</vt:lpstr>
      <vt:lpstr>Microsoft YaHei</vt:lpstr>
      <vt:lpstr>Arial Unicode MS</vt:lpstr>
      <vt:lpstr>Aptos</vt:lpstr>
      <vt:lpstr>Bahnschrift</vt:lpstr>
      <vt:lpstr>Copperplate Gothic Light</vt:lpstr>
      <vt:lpstr>Castellar</vt:lpstr>
      <vt:lpstr>Century</vt:lpstr>
      <vt:lpstr>Century Gothic</vt:lpstr>
      <vt:lpstr>Centaur</vt:lpstr>
      <vt:lpstr>Times New Roman</vt:lpstr>
      <vt:lpstr>Agency FB</vt:lpstr>
      <vt:lpstr>Algerian</vt:lpstr>
      <vt:lpstr>Wingdings</vt:lpstr>
      <vt:lpstr>Ebrima</vt:lpstr>
      <vt:lpstr>Microsoft PhagsPa</vt:lpstr>
      <vt:lpstr>Microsoft Tai Le</vt:lpstr>
      <vt:lpstr>Microsoft Himalaya</vt:lpstr>
      <vt:lpstr>Microsoft JhengHei</vt:lpstr>
      <vt:lpstr>Microsoft JhengHei Light</vt:lpstr>
      <vt:lpstr>Microsoft YaHei UI Light</vt:lpstr>
      <vt:lpstr>1_Office Theme</vt:lpstr>
      <vt:lpstr>Custom Design</vt:lpstr>
      <vt:lpstr>PowerPoint 演示文稿</vt:lpstr>
      <vt:lpstr>OUTLINE:</vt:lpstr>
      <vt:lpstr>Problem Statement:</vt:lpstr>
      <vt:lpstr>Proposed Solution:</vt:lpstr>
      <vt:lpstr>System  Approach:</vt:lpstr>
      <vt:lpstr>Algorithm &amp; Deployment:</vt:lpstr>
      <vt:lpstr>Result:</vt:lpstr>
      <vt:lpstr>Conclusion:</vt:lpstr>
      <vt:lpstr>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Pavan Kumar</cp:lastModifiedBy>
  <cp:revision>106</cp:revision>
  <dcterms:created xsi:type="dcterms:W3CDTF">2024-05-21T11:55:00Z</dcterms:created>
  <dcterms:modified xsi:type="dcterms:W3CDTF">2026-03-15T06:16:11Z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5428EE751762420CB186B7290EAB5300_13</vt:lpwstr>
  </property>
  <property fmtid="{D5CDD505-2E9C-101B-9397-08002B2CF9AE}" pid="5" name="KSOProductBuildVer">
    <vt:lpwstr>2057-12.2.0.23196</vt:lpwstr>
  </property>
</Properties>
</file>